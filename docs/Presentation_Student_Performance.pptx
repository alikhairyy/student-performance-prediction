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Data Analytics Project  |  Following the Data Analytics Lifecycle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Khairy  |  Hamza Milad  |  Youssef Halawa  |  Abdelrahman Amgad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ESLSCA University  |  Dr. Mohamed Labib  |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A3A"/>
          </a:solidFill>
          <a:ln w="12700">
            <a:solidFill>
              <a:srgbClr val="01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Context — The 5 Vs  (Lec 1 &amp;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1887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042416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 students, 28 features — scalable to institution-wide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8412480" cy="713232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55648"/>
            <a:ext cx="118872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0136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183794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updated per period (G1→G2→G3); timely intervention needed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8412480" cy="713232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51176"/>
            <a:ext cx="118872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96896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63347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grades + categorical demographics + ordinal lifestyle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8412480" cy="713232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46704"/>
            <a:ext cx="11887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92424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4290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and outliers checked before analysis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142232"/>
            <a:ext cx="8412480" cy="713232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42232"/>
            <a:ext cx="118872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8795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422452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at-risk students → early intervention → reduce dropout rates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Lifecycle  (Lec 5)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follows all 6 phases: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83464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83464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Discovery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5623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problem, KPIs, stakeholders, analytical questions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83464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2834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Data Preparation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85623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 encode, normalize, split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83464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25880"/>
            <a:ext cx="283464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Model Planning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85623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algorithms, define metrics, plan workflow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283464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08960"/>
            <a:ext cx="283464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54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Model Building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63931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validate, tune Regression &amp; Classification models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108960"/>
            <a:ext cx="283464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3108960"/>
            <a:ext cx="2834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154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Communicate Results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63931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recommendations, Power BI dashboard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83464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108960"/>
            <a:ext cx="283464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154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Operationalize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63931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retrain, scale with Spark/Hadoop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Discovery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are identified too late for intervention. A predictive model built on early semester data (G1, G2, habits) enables timely support.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9748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KPI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69748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011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2606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KPI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69748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11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2.5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606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KPI (grade pts)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200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347472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941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Which factors most predict final grade G3?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347472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05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Can a model classify pass/fail before the final exam?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5171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 How do study time and absences affect outcomes?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A3A"/>
          </a:solidFill>
          <a:ln w="12700">
            <a:solidFill>
              <a:srgbClr val="01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Data Preparation  (Lec 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0972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1498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36245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 students, 28 features — UCI Student Performance (Math)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406908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65960"/>
            <a:ext cx="10972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02082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Missing Values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36829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nulls confirmed — no imputation needed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06908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971800"/>
            <a:ext cx="10972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0266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Duplicates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337413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rows detected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406908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977640"/>
            <a:ext cx="10972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403250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Label Encoding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437997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binary categoricals encoded as 0/1 (Lec 1&amp;2: transformation)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06908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60120"/>
            <a:ext cx="10972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01498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StandardScaler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136245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features normalized: zero mean, unit variance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304288"/>
            <a:ext cx="406908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304288"/>
            <a:ext cx="10972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359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270662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derived: G3 ≥ 10 = Pass (1), G3 &lt; 10 = Fail (0)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48456"/>
            <a:ext cx="406908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648456"/>
            <a:ext cx="10972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703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Train/Test Split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40507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— stratified by class label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Exploratory Data Analysis  (Lec 5)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703320"/>
            <a:ext cx="2788920" cy="1143000"/>
          </a:xfrm>
          <a:prstGeom prst="rect">
            <a:avLst/>
          </a:prstGeom>
          <a:solidFill>
            <a:srgbClr val="012A3A"/>
          </a:solidFill>
          <a:ln w="12700">
            <a:solidFill>
              <a:srgbClr val="012A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7490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4343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Pass Rate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3703320"/>
            <a:ext cx="2788920" cy="1143000"/>
          </a:xfrm>
          <a:prstGeom prst="rect">
            <a:avLst/>
          </a:prstGeom>
          <a:solidFill>
            <a:srgbClr val="012A3A"/>
          </a:solidFill>
          <a:ln w="12700">
            <a:solidFill>
              <a:srgbClr val="012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37490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200400" y="4343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Final Grade (G3)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3703320"/>
            <a:ext cx="2788920" cy="1143000"/>
          </a:xfrm>
          <a:prstGeom prst="rect">
            <a:avLst/>
          </a:prstGeom>
          <a:solidFill>
            <a:srgbClr val="012A3A"/>
          </a:solidFill>
          <a:ln w="12700">
            <a:solidFill>
              <a:srgbClr val="012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7490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26480" y="4343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→ G3 Correlation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A3A"/>
          </a:solidFill>
          <a:ln w="12700">
            <a:solidFill>
              <a:srgbClr val="01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Correlation Analysis  (Lec 5: "Explore trends and correlations")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9377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005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Correlations with G3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0" y="1463040"/>
            <a:ext cx="3383280" cy="47548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49961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1527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(2nd period grade)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2011680"/>
            <a:ext cx="3383280" cy="47548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204825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2075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(1st period grade)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560320"/>
            <a:ext cx="3383280" cy="47548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259689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26243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108960"/>
            <a:ext cx="3383280" cy="47548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314553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-0.38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0" y="3172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failures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657600"/>
            <a:ext cx="3383280" cy="47548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369417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3721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out frequency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0" y="4206240"/>
            <a:ext cx="3383280" cy="47548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424281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-0.17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00800" y="42702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alcohol use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Model Planning  (Lec 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88920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Prediction (G3)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05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865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target variable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16352"/>
            <a:ext cx="2788920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437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Ref: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998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Tasks — Lec 1&amp;2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78892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9601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1389888"/>
            <a:ext cx="2788920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6733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Classification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103120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1305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3865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"Quick baseline model" — Lec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816352"/>
            <a:ext cx="2788920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8437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Ref: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0998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Planning — Lec 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7889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9601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(d=5)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1389888"/>
            <a:ext cx="2788920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6733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Classification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103120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1305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23865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"Classification model" — Lec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816352"/>
            <a:ext cx="2788920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8437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Ref: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0998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Planning — Lec 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611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(Lec 5: "Decide evaluation metrics: Accuracy, Precision, Recall, F1 Score")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4005072"/>
            <a:ext cx="8595360" cy="77724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5079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Accuracy  |  Precision  |  Recall  |  F1 Score  |  Confusion Matrix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RMSE  |  MAE  |  R²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A3A"/>
          </a:solidFill>
          <a:ln w="12700">
            <a:solidFill>
              <a:srgbClr val="01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Model Building &amp; Evaluation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96112"/>
            <a:ext cx="859536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429000"/>
            <a:ext cx="278892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493008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0.621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" y="4160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grade prediction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3429000"/>
            <a:ext cx="278892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3493008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200400" y="4160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(both models)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3429000"/>
            <a:ext cx="278892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493008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0.918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26480" y="4160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F1 Score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Power BI Dashboard  (Lec 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taught in Lec 6, a dashboard is "a collection of visuals that provide quick insight into the data." Our interactive HTML dashboard includes: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41605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45920"/>
            <a:ext cx="109728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078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04825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students, pass rate, mean grade, mean absences — Numeric visuals (Lec 6)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41605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697480"/>
            <a:ext cx="10972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75234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09981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by school and gender — Categorical visual (Lec 6)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41605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4904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8039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415137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 by study time group — Categorical visual (Lec 6)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41605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645920"/>
            <a:ext cx="109728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0078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04825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vs G3 relationship — Trend visualization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41605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697480"/>
            <a:ext cx="10972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5234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309981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school, gender, pass/fail — Interactive filters (Lec 6)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1605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74904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8039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415137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Student-level predictions grid — Grid visual (Lec 6)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Insights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9669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Early Alert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984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students with G1 &lt; 10 or any past failure for immediate counselor contact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859536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83080"/>
            <a:ext cx="10972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1965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Attendance Monitoring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1214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alerts when absences exceed 6 — measurable grade 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06040"/>
            <a:ext cx="859536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606040"/>
            <a:ext cx="10972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64261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Study Skills Program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9443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students studying &lt;2h/week with structured workshops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859536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10972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46557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Parent Engagement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7673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outreach to families with low parental education (Medu/Fedu ≤ 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D6EA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251960"/>
            <a:ext cx="10972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28853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Scale with Big Data Tools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45902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Apache Spark for institution-wide rollout (Lec 1&amp;2)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7101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Applied the 6-phase Data Analytics Lifecycle (Lec 5) end-to-end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56232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928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Framed within the 5 Vs of Big Data (Lec 1 &amp; 2)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78024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14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Linear Regression: R² = 0.621, MAE = 1.63 — exceeds KPI target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99816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36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Logistic Regression &amp; Decision Tree: 87.3% accuracy — exceeds 80% KPI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21608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5818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 BI-style dashboard built with KPI cards, charts &amp; slicers (Lec 6)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832104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3799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actionable recommendations for teachers, counselors &amp; administrators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ESLSCA University  |  Big Data Analysis  |  Dr. Mohamed Labib  | 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</dc:title>
  <dc:subject>PptxGenJS Presentation</dc:subject>
  <dc:creator>Ali Khairy, Hamza Milad, Youssef Halawa, Abdelrahman Amgad</dc:creator>
  <cp:lastModifiedBy>Ali Khairy, Hamza Milad, Youssef Halawa, Abdelrahman Amgad</cp:lastModifiedBy>
  <cp:revision>1</cp:revision>
  <dcterms:created xsi:type="dcterms:W3CDTF">2026-05-05T13:14:41Z</dcterms:created>
  <dcterms:modified xsi:type="dcterms:W3CDTF">2026-05-05T13:14:41Z</dcterms:modified>
</cp:coreProperties>
</file>